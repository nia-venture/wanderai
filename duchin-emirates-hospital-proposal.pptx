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256032"/>
            <a:ext cx="0" cy="3694176"/>
          </a:xfrm>
          <a:prstGeom prst="line">
            <a:avLst/>
          </a:prstGeom>
          <a:noFill/>
          <a:ln w="6350">
            <a:solidFill>
              <a:srgbClr val="1C35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SUPPLY PARTNERSHIP PROPOSAL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49377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DCE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Supplying Excellence</a:t>
            </a:r>
            <a:endParaRPr lang="en-US" sz="3800" dirty="0"/>
          </a:p>
          <a:p>
            <a:pPr algn="l" indent="0" marL="0">
              <a:buNone/>
            </a:pPr>
            <a:r>
              <a:rPr lang="en-US" sz="3800" dirty="0">
                <a:solidFill>
                  <a:srgbClr val="DCE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Emirates Hospital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2066544"/>
            <a:ext cx="822960" cy="0"/>
          </a:xfrm>
          <a:prstGeom prst="line">
            <a:avLst/>
          </a:prstGeom>
          <a:noFill/>
          <a:ln w="25400">
            <a:solidFill>
              <a:srgbClr val="C28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76272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supply framework for Emirates Hospital Group — competitive pricing, operational reliability, and zero compromise on quality.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96265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exclusively for Emirates Hospital Group   ·   July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42432" y="256032"/>
            <a:ext cx="2944368" cy="612648"/>
          </a:xfrm>
          <a:prstGeom prst="roundRect">
            <a:avLst>
              <a:gd name="adj" fmla="val 5970"/>
            </a:avLst>
          </a:prstGeom>
          <a:solidFill>
            <a:srgbClr val="0D1E38"/>
          </a:solidFill>
          <a:ln w="7620">
            <a:solidFill>
              <a:srgbClr val="C28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70448" y="310896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 LICENSE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870448" y="48463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E9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 1588874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42432" y="978408"/>
            <a:ext cx="2944368" cy="612648"/>
          </a:xfrm>
          <a:prstGeom prst="roundRect">
            <a:avLst>
              <a:gd name="adj" fmla="val 5970"/>
            </a:avLst>
          </a:prstGeom>
          <a:solidFill>
            <a:srgbClr val="0D1E38"/>
          </a:solidFill>
          <a:ln w="7620">
            <a:solidFill>
              <a:srgbClr val="C28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70448" y="103327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PAID-UP CAPITAL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870448" y="120700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E9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AED 5,000,000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742432" y="1700784"/>
            <a:ext cx="2944368" cy="612648"/>
          </a:xfrm>
          <a:prstGeom prst="roundRect">
            <a:avLst>
              <a:gd name="adj" fmla="val 5970"/>
            </a:avLst>
          </a:prstGeom>
          <a:solidFill>
            <a:srgbClr val="0D1E38"/>
          </a:solidFill>
          <a:ln w="7620">
            <a:solidFill>
              <a:srgbClr val="C28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70448" y="175564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DCCI MEMBERSHIP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870448" y="1929384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E9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 665694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42432" y="2423160"/>
            <a:ext cx="2944368" cy="612648"/>
          </a:xfrm>
          <a:prstGeom prst="roundRect">
            <a:avLst>
              <a:gd name="adj" fmla="val 5970"/>
            </a:avLst>
          </a:prstGeom>
          <a:solidFill>
            <a:srgbClr val="0D1E38"/>
          </a:solidFill>
          <a:ln w="7620">
            <a:solidFill>
              <a:srgbClr val="C28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0448" y="247802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ACTIVITY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870448" y="265176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E9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General Trading · Active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742432" y="3145536"/>
            <a:ext cx="2944368" cy="612648"/>
          </a:xfrm>
          <a:prstGeom prst="roundRect">
            <a:avLst>
              <a:gd name="adj" fmla="val 5970"/>
            </a:avLst>
          </a:prstGeom>
          <a:solidFill>
            <a:srgbClr val="0D1E38"/>
          </a:solidFill>
          <a:ln w="7620">
            <a:solidFill>
              <a:srgbClr val="C28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70448" y="320040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ENTITY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870448" y="3374136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E9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Duchin Holding LLC-FZ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4078224"/>
            <a:ext cx="9144000" cy="1065276"/>
          </a:xfrm>
          <a:prstGeom prst="rect">
            <a:avLst/>
          </a:prstGeom>
          <a:solidFill>
            <a:srgbClr val="0C1830"/>
          </a:solidFill>
          <a:ln w="12700">
            <a:solidFill>
              <a:srgbClr val="0C18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078224"/>
            <a:ext cx="9144000" cy="0"/>
          </a:xfrm>
          <a:prstGeom prst="line">
            <a:avLst/>
          </a:prstGeom>
          <a:noFill/>
          <a:ln w="10160">
            <a:solidFill>
              <a:srgbClr val="C28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435254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 DUBAI REGISTERED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048256" y="4315968"/>
            <a:ext cx="0" cy="347472"/>
          </a:xfrm>
          <a:prstGeom prst="line">
            <a:avLst/>
          </a:prstGeom>
          <a:noFill/>
          <a:ln w="6350">
            <a:solidFill>
              <a:srgbClr val="1C35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03120" y="435254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CHAMBER MEMBER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803904" y="4315968"/>
            <a:ext cx="0" cy="347472"/>
          </a:xfrm>
          <a:prstGeom prst="line">
            <a:avLst/>
          </a:prstGeom>
          <a:noFill/>
          <a:ln w="6350">
            <a:solidFill>
              <a:srgbClr val="1C35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58768" y="435254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5M CAPITAL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559552" y="4315968"/>
            <a:ext cx="0" cy="347472"/>
          </a:xfrm>
          <a:prstGeom prst="line">
            <a:avLst/>
          </a:prstGeom>
          <a:noFill/>
          <a:ln w="6350">
            <a:solidFill>
              <a:srgbClr val="1C35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14416" y="435254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TRADING · ACTIVE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7315200" y="4315968"/>
            <a:ext cx="0" cy="347472"/>
          </a:xfrm>
          <a:prstGeom prst="line">
            <a:avLst/>
          </a:prstGeom>
          <a:noFill/>
          <a:ln w="6350">
            <a:solidFill>
              <a:srgbClr val="1C355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70064" y="435254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UAE COMPLIANT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C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7121F"/>
          </a:solidFill>
          <a:ln w="12700">
            <a:solidFill>
              <a:srgbClr val="0712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1C35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347472" y="237744"/>
            <a:ext cx="73152" cy="73152"/>
          </a:xfrm>
          <a:prstGeom prst="rect">
            <a:avLst/>
          </a:prstGeom>
          <a:solidFill>
            <a:srgbClr val="C28A2A"/>
          </a:solidFill>
          <a:ln w="12700">
            <a:solidFill>
              <a:srgbClr val="C28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645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DUCHIN GENERAL TRADING  L.L.C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0" y="1645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6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/  10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0"/>
          </a:xfrm>
          <a:prstGeom prst="line">
            <a:avLst/>
          </a:prstGeom>
          <a:noFill/>
          <a:ln w="6350">
            <a:solidFill>
              <a:srgbClr val="1C35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7121F"/>
          </a:solidFill>
          <a:ln w="12700">
            <a:solidFill>
              <a:srgbClr val="0712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4846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Duchin General Trading L.L.C  ·  Emirates Hospital Group — Supply Partnership Proposal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94944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July 2026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6583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Reasons This Partnership Cannot Be Passed Over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1508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Emirates Hospital needs a supply partner that matches its standard of care — financially stable, UAE-licensed, operationally agile, and commercially irresistible.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1956816"/>
            <a:ext cx="1938528" cy="749808"/>
          </a:xfrm>
          <a:prstGeom prst="rect">
            <a:avLst/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1993392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28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5M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85216" y="2432304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PAID-UP CAPITAL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487168" y="1956816"/>
            <a:ext cx="1938528" cy="749808"/>
          </a:xfrm>
          <a:prstGeom prst="rect">
            <a:avLst/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15184" y="1993392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28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8–12%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615184" y="2432304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BENCHMARK PRICING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517136" y="1956816"/>
            <a:ext cx="1938528" cy="749808"/>
          </a:xfrm>
          <a:prstGeom prst="rect">
            <a:avLst/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5152" y="1993392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28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Day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645152" y="2432304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SUPPLY SLA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547104" y="1956816"/>
            <a:ext cx="1938528" cy="749808"/>
          </a:xfrm>
          <a:prstGeom prst="rect">
            <a:avLst/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1993392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28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Days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675120" y="2432304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COST-PRICE TRIAL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57200" y="2816352"/>
            <a:ext cx="2606040" cy="1792224"/>
          </a:xfrm>
          <a:prstGeom prst="roundRect">
            <a:avLst>
              <a:gd name="adj" fmla="val 2551"/>
            </a:avLst>
          </a:prstGeom>
          <a:solidFill>
            <a:srgbClr val="102540"/>
          </a:solidFill>
          <a:ln w="10160">
            <a:solidFill>
              <a:srgbClr val="C28A2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1792" y="2889504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CREDIBILITY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21792" y="3108960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28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5,000,000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21792" y="3529584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paid-up capital with holding group backing — sustain large-volume purchase orders without constraints affecting your supply chain.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18688" y="2816352"/>
            <a:ext cx="2606040" cy="1792224"/>
          </a:xfrm>
          <a:prstGeom prst="roundRect">
            <a:avLst>
              <a:gd name="adj" fmla="val 2551"/>
            </a:avLst>
          </a:prstGeom>
          <a:solidFill>
            <a:srgbClr val="102540"/>
          </a:solidFill>
          <a:ln w="10160">
            <a:solidFill>
              <a:srgbClr val="C28A2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383280" y="2889504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PRECISION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383280" y="3108960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28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48h → Same Day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383280" y="3529584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delivery from routine 48-hour fulfillment to same-day emergency supply — with no premium surcharge on emergency orders, ever.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980176" y="2816352"/>
            <a:ext cx="2606040" cy="1792224"/>
          </a:xfrm>
          <a:prstGeom prst="roundRect">
            <a:avLst>
              <a:gd name="adj" fmla="val 2551"/>
            </a:avLst>
          </a:prstGeom>
          <a:solidFill>
            <a:srgbClr val="102540"/>
          </a:solidFill>
          <a:ln w="10160">
            <a:solidFill>
              <a:srgbClr val="23907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144768" y="2889504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39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SAVINGS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144768" y="3108960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9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to 12% Off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144768" y="3529584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Volume-tiered pricing, Net-60 terms, monthly invoicing, and a zero-risk 90-day cost-price trial — budgets improve from month one.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C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7121F"/>
          </a:solidFill>
          <a:ln w="12700">
            <a:solidFill>
              <a:srgbClr val="0712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1C35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347472" y="237744"/>
            <a:ext cx="73152" cy="73152"/>
          </a:xfrm>
          <a:prstGeom prst="rect">
            <a:avLst/>
          </a:prstGeom>
          <a:solidFill>
            <a:srgbClr val="C28A2A"/>
          </a:solidFill>
          <a:ln w="12700">
            <a:solidFill>
              <a:srgbClr val="C28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645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DUCHIN GENERAL TRADING  L.L.C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0" y="1645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6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/  10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0"/>
          </a:xfrm>
          <a:prstGeom prst="line">
            <a:avLst/>
          </a:prstGeom>
          <a:noFill/>
          <a:ln w="6350">
            <a:solidFill>
              <a:srgbClr val="1C35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7121F"/>
          </a:solidFill>
          <a:ln w="12700">
            <a:solidFill>
              <a:srgbClr val="0712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4846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Duchin General Trading L.L.C  ·  Emirates Hospital Group — Supply Partnership Proposal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94944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July 2026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6583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Duchin General Trading — Credentials at a Glance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1508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DED-licensed general trading entity, AED 5M paid-up capital, DCCI registered, 100% owned by Duchin Holding LLC-FZ.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1938528"/>
            <a:ext cx="8229600" cy="2542032"/>
          </a:xfrm>
          <a:prstGeom prst="roundRect">
            <a:avLst>
              <a:gd name="adj" fmla="val 1799"/>
            </a:avLst>
          </a:prstGeom>
          <a:solidFill>
            <a:srgbClr val="102540"/>
          </a:solidFill>
          <a:ln w="10160">
            <a:solidFill>
              <a:srgbClr val="C28A2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" y="2048256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NAME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58368" y="2212848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DUCHIN GENERAL TRADING L.L.C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8368" y="2542032"/>
            <a:ext cx="2450592" cy="0"/>
          </a:xfrm>
          <a:prstGeom prst="line">
            <a:avLst/>
          </a:prstGeom>
          <a:noFill/>
          <a:ln w="5080">
            <a:solidFill>
              <a:srgbClr val="1C35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2048256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NUMBER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291840" y="2212848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2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1588874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91840" y="2542032"/>
            <a:ext cx="2450592" cy="0"/>
          </a:xfrm>
          <a:prstGeom prst="line">
            <a:avLst/>
          </a:prstGeom>
          <a:noFill/>
          <a:ln w="5080">
            <a:solidFill>
              <a:srgbClr val="1C35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25312" y="2048256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CATEGORY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925312" y="2212848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Dep. of Economic Development, Dubai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25312" y="2542032"/>
            <a:ext cx="2450592" cy="0"/>
          </a:xfrm>
          <a:prstGeom prst="line">
            <a:avLst/>
          </a:prstGeom>
          <a:noFill/>
          <a:ln w="5080">
            <a:solidFill>
              <a:srgbClr val="1C35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615184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FORM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58368" y="2779776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LLC — Single Owner (LLC-SO)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58368" y="3108960"/>
            <a:ext cx="2450592" cy="0"/>
          </a:xfrm>
          <a:prstGeom prst="line">
            <a:avLst/>
          </a:prstGeom>
          <a:noFill/>
          <a:ln w="5080">
            <a:solidFill>
              <a:srgbClr val="1C35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615184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ACTIVITY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291840" y="2779776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Trading · Active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91840" y="3108960"/>
            <a:ext cx="2450592" cy="0"/>
          </a:xfrm>
          <a:prstGeom prst="line">
            <a:avLst/>
          </a:prstGeom>
          <a:noFill/>
          <a:ln w="5080">
            <a:solidFill>
              <a:srgbClr val="1C35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25312" y="2615184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PAID-UP CAPITAL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925312" y="2779776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2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AED 5,000,000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25312" y="3108960"/>
            <a:ext cx="2450592" cy="0"/>
          </a:xfrm>
          <a:prstGeom prst="line">
            <a:avLst/>
          </a:prstGeom>
          <a:noFill/>
          <a:ln w="5080">
            <a:solidFill>
              <a:srgbClr val="1C355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3182112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DCCI MEMBERSHIP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58368" y="334670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2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665694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58368" y="3675888"/>
            <a:ext cx="2450592" cy="0"/>
          </a:xfrm>
          <a:prstGeom prst="line">
            <a:avLst/>
          </a:prstGeom>
          <a:noFill/>
          <a:ln w="5080">
            <a:solidFill>
              <a:srgbClr val="1C355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3182112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REGISTER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291840" y="334670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2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2784711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91840" y="3675888"/>
            <a:ext cx="2450592" cy="0"/>
          </a:xfrm>
          <a:prstGeom prst="line">
            <a:avLst/>
          </a:prstGeom>
          <a:noFill/>
          <a:ln w="5080">
            <a:solidFill>
              <a:srgbClr val="1C355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25312" y="3182112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SHARES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925312" y="334670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Shares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925312" y="3675888"/>
            <a:ext cx="2450592" cy="0"/>
          </a:xfrm>
          <a:prstGeom prst="line">
            <a:avLst/>
          </a:prstGeom>
          <a:noFill/>
          <a:ln w="5080">
            <a:solidFill>
              <a:srgbClr val="1C355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" y="3749040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ISSUED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58368" y="391363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January 2026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291840" y="3749040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VALID UNTIL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291840" y="391363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January 2027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925312" y="3749040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ENTITY (100% OWNER)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925312" y="391363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Duchin Holding L.L.C-FZ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" y="4572000"/>
            <a:ext cx="1316736" cy="182880"/>
          </a:xfrm>
          <a:prstGeom prst="roundRect">
            <a:avLst>
              <a:gd name="adj" fmla="val 15000"/>
            </a:avLst>
          </a:prstGeom>
          <a:solidFill>
            <a:srgbClr val="0D1A2E"/>
          </a:solidFill>
          <a:ln w="6350">
            <a:solidFill>
              <a:srgbClr val="C28A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" y="459028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80" kern="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 DUBAI LICENSED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874520" y="4572000"/>
            <a:ext cx="1316736" cy="182880"/>
          </a:xfrm>
          <a:prstGeom prst="roundRect">
            <a:avLst>
              <a:gd name="adj" fmla="val 15000"/>
            </a:avLst>
          </a:prstGeom>
          <a:solidFill>
            <a:srgbClr val="0D1A2E"/>
          </a:solidFill>
          <a:ln w="6350">
            <a:solidFill>
              <a:srgbClr val="C28A2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47672" y="459028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80" kern="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DCCI MEMBER #665694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3291840" y="4572000"/>
            <a:ext cx="1316736" cy="182880"/>
          </a:xfrm>
          <a:prstGeom prst="roundRect">
            <a:avLst>
              <a:gd name="adj" fmla="val 15000"/>
            </a:avLst>
          </a:prstGeom>
          <a:solidFill>
            <a:srgbClr val="0D1A2E"/>
          </a:solidFill>
          <a:ln w="6350">
            <a:solidFill>
              <a:srgbClr val="C28A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64992" y="459028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80" kern="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5M PAID-UP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4709160" y="4572000"/>
            <a:ext cx="1316736" cy="182880"/>
          </a:xfrm>
          <a:prstGeom prst="roundRect">
            <a:avLst>
              <a:gd name="adj" fmla="val 15000"/>
            </a:avLst>
          </a:prstGeom>
          <a:solidFill>
            <a:srgbClr val="0D1A2E"/>
          </a:solidFill>
          <a:ln w="6350">
            <a:solidFill>
              <a:srgbClr val="C28A2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82312" y="459028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80" kern="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VAT COMPLIANT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6126480" y="4572000"/>
            <a:ext cx="1316736" cy="182880"/>
          </a:xfrm>
          <a:prstGeom prst="roundRect">
            <a:avLst>
              <a:gd name="adj" fmla="val 15000"/>
            </a:avLst>
          </a:prstGeom>
          <a:solidFill>
            <a:srgbClr val="0D1A2E"/>
          </a:solidFill>
          <a:ln w="6350">
            <a:solidFill>
              <a:srgbClr val="C28A2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99632" y="459028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80" kern="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STATUS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7543800" y="4572000"/>
            <a:ext cx="1316736" cy="182880"/>
          </a:xfrm>
          <a:prstGeom prst="roundRect">
            <a:avLst>
              <a:gd name="adj" fmla="val 15000"/>
            </a:avLst>
          </a:prstGeom>
          <a:solidFill>
            <a:srgbClr val="0D1A2E"/>
          </a:solidFill>
          <a:ln w="6350">
            <a:solidFill>
              <a:srgbClr val="C28A2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16952" y="459028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80" kern="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UAE ENTITY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C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7121F"/>
          </a:solidFill>
          <a:ln w="12700">
            <a:solidFill>
              <a:srgbClr val="0712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1C35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347472" y="237744"/>
            <a:ext cx="73152" cy="73152"/>
          </a:xfrm>
          <a:prstGeom prst="rect">
            <a:avLst/>
          </a:prstGeom>
          <a:solidFill>
            <a:srgbClr val="C28A2A"/>
          </a:solidFill>
          <a:ln w="12700">
            <a:solidFill>
              <a:srgbClr val="C28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645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DUCHIN GENERAL TRADING  L.L.C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0" y="1645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6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/  10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0"/>
          </a:xfrm>
          <a:prstGeom prst="line">
            <a:avLst/>
          </a:prstGeom>
          <a:noFill/>
          <a:ln w="6350">
            <a:solidFill>
              <a:srgbClr val="1C35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7121F"/>
          </a:solidFill>
          <a:ln w="12700">
            <a:solidFill>
              <a:srgbClr val="0712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4846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Duchin General Trading L.L.C  ·  Emirates Hospital Group — Supply Partnership Proposal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94944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July 2026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6583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STRUCTURE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Backed by Duchin Holding — Group Strength Behind Every Order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1508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Duchin General Trading is 100% owned by Duchin Holding LLC-FZ, providing the group with international reach, capital efficiency, and institutional depth.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011680"/>
            <a:ext cx="2468880" cy="594360"/>
          </a:xfrm>
          <a:prstGeom prst="roundRect">
            <a:avLst>
              <a:gd name="adj" fmla="val 6154"/>
            </a:avLst>
          </a:prstGeom>
          <a:solidFill>
            <a:srgbClr val="C28A2A"/>
          </a:solidFill>
          <a:ln w="12700">
            <a:solidFill>
              <a:srgbClr val="C28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048256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07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ENTITY  ·  FREE ZONE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548640" y="22128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Duchin Holding L.L.C-FZ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691640" y="2606040"/>
            <a:ext cx="0" cy="274320"/>
          </a:xfrm>
          <a:prstGeom prst="line">
            <a:avLst/>
          </a:prstGeom>
          <a:noFill/>
          <a:ln w="10160">
            <a:solidFill>
              <a:srgbClr val="C28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80360"/>
            <a:ext cx="2468880" cy="594360"/>
          </a:xfrm>
          <a:prstGeom prst="roundRect">
            <a:avLst>
              <a:gd name="adj" fmla="val 6154"/>
            </a:avLst>
          </a:prstGeom>
          <a:solidFill>
            <a:srgbClr val="102540"/>
          </a:solidFill>
          <a:ln w="10160">
            <a:solidFill>
              <a:srgbClr val="C28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916936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SUBSIDIARY  ·  DUBAI DED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548640" y="30815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Duchin General Trading L.L.C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691640" y="3474720"/>
            <a:ext cx="0" cy="274320"/>
          </a:xfrm>
          <a:prstGeom prst="line">
            <a:avLst/>
          </a:prstGeom>
          <a:noFill/>
          <a:ln w="10160">
            <a:solidFill>
              <a:srgbClr val="1C355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749040"/>
            <a:ext cx="2468880" cy="594360"/>
          </a:xfrm>
          <a:prstGeom prst="roundRect">
            <a:avLst>
              <a:gd name="adj" fmla="val 6154"/>
            </a:avLst>
          </a:prstGeom>
          <a:solidFill>
            <a:srgbClr val="162F52"/>
          </a:solidFill>
          <a:ln w="6350">
            <a:solidFill>
              <a:srgbClr val="1C35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785616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SUPPLY PARTNERSHIP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548640" y="39502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9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Emirates Hospital Group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91840" y="1993392"/>
            <a:ext cx="2706624" cy="777240"/>
          </a:xfrm>
          <a:prstGeom prst="roundRect">
            <a:avLst>
              <a:gd name="adj" fmla="val 5882"/>
            </a:avLst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429000" y="2084832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ARCHITECTURE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3429000" y="2258568"/>
            <a:ext cx="2432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Zone Holding → Dubai DED Operating Entity. Structured for international sourcing and local UAE compliance.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08192" y="1993392"/>
            <a:ext cx="2706624" cy="777240"/>
          </a:xfrm>
          <a:prstGeom prst="roundRect">
            <a:avLst>
              <a:gd name="adj" fmla="val 5882"/>
            </a:avLst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45352" y="2084832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6245352" y="2258568"/>
            <a:ext cx="2432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Duchin General Trading held by Duchin Holding LLC-FZ — unified decision-making, rapid response.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91840" y="2880360"/>
            <a:ext cx="2706624" cy="777240"/>
          </a:xfrm>
          <a:prstGeom prst="roundRect">
            <a:avLst>
              <a:gd name="adj" fmla="val 5882"/>
            </a:avLst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29000" y="2971800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3429000" y="3145536"/>
            <a:ext cx="2432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Rana Farhan Ahmed (Manager) — direct accountability on all procurement decisions.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08192" y="2880360"/>
            <a:ext cx="2706624" cy="777240"/>
          </a:xfrm>
          <a:prstGeom prst="roundRect">
            <a:avLst>
              <a:gd name="adj" fmla="val 5882"/>
            </a:avLst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245352" y="2971800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STANDING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6245352" y="3145536"/>
            <a:ext cx="2432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compliant with Dubai DED, Dubai Chamber, and UAE Commercial Companies Law.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91840" y="3767328"/>
            <a:ext cx="2706624" cy="777240"/>
          </a:xfrm>
          <a:prstGeom prst="roundRect">
            <a:avLst>
              <a:gd name="adj" fmla="val 5882"/>
            </a:avLst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429000" y="3858768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DIVERSIFICATION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3429000" y="4032504"/>
            <a:ext cx="2432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Duchin Group operates across sectors including F&amp;B (Heng Chen ME brand) — proven operational track record.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108192" y="3767328"/>
            <a:ext cx="2706624" cy="777240"/>
          </a:xfrm>
          <a:prstGeom prst="roundRect">
            <a:avLst>
              <a:gd name="adj" fmla="val 5882"/>
            </a:avLst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245352" y="3858768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BACKING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6245352" y="4032504"/>
            <a:ext cx="2432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5M at operating level. Group structure supports large forward-purchase commitments and extended credit.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C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7121F"/>
          </a:solidFill>
          <a:ln w="12700">
            <a:solidFill>
              <a:srgbClr val="0712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1C35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347472" y="237744"/>
            <a:ext cx="73152" cy="73152"/>
          </a:xfrm>
          <a:prstGeom prst="rect">
            <a:avLst/>
          </a:prstGeom>
          <a:solidFill>
            <a:srgbClr val="C28A2A"/>
          </a:solidFill>
          <a:ln w="12700">
            <a:solidFill>
              <a:srgbClr val="C28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645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DUCHIN GENERAL TRADING  L.L.C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0" y="1645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6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/  10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0"/>
          </a:xfrm>
          <a:prstGeom prst="line">
            <a:avLst/>
          </a:prstGeom>
          <a:noFill/>
          <a:ln w="6350">
            <a:solidFill>
              <a:srgbClr val="1C35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7121F"/>
          </a:solidFill>
          <a:ln w="12700">
            <a:solidFill>
              <a:srgbClr val="0712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4846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Duchin General Trading L.L.C  ·  Emirates Hospital Group — Supply Partnership Proposal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94944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July 2026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6583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Emirates Hospital Group's Procurement Needs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1508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World-class patient care demands a supply chain that never fails. We are structured to ensure it never does.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1920240"/>
            <a:ext cx="5029200" cy="512064"/>
          </a:xfrm>
          <a:prstGeom prst="roundRect">
            <a:avLst>
              <a:gd name="adj" fmla="val 8929"/>
            </a:avLst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2039112"/>
            <a:ext cx="310896" cy="274320"/>
          </a:xfrm>
          <a:prstGeom prst="rect">
            <a:avLst/>
          </a:prstGeom>
          <a:solidFill>
            <a:srgbClr val="1B6E5D"/>
          </a:solidFill>
          <a:ln w="12700">
            <a:solidFill>
              <a:srgbClr val="1B6E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03911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E9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987552" y="198424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Uninterrupted Supply Continuity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87552" y="21671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supply gaps. We maintain buffer inventory and an emergency protocol for critical items — activated within hours.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487168"/>
            <a:ext cx="5029200" cy="512064"/>
          </a:xfrm>
          <a:prstGeom prst="roundRect">
            <a:avLst>
              <a:gd name="adj" fmla="val 8929"/>
            </a:avLst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6928" y="2606040"/>
            <a:ext cx="310896" cy="274320"/>
          </a:xfrm>
          <a:prstGeom prst="rect">
            <a:avLst/>
          </a:prstGeom>
          <a:solidFill>
            <a:srgbClr val="1B6E5D"/>
          </a:solidFill>
          <a:ln w="12700">
            <a:solidFill>
              <a:srgbClr val="1B6E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60604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E9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987552" y="25511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 Without Quality Compromise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87552" y="273405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8–12% savings vs. market benchmark with full product quality and origin documentation maintained throughout.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3054096"/>
            <a:ext cx="5029200" cy="512064"/>
          </a:xfrm>
          <a:prstGeom prst="roundRect">
            <a:avLst>
              <a:gd name="adj" fmla="val 8929"/>
            </a:avLst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6928" y="3172968"/>
            <a:ext cx="310896" cy="274320"/>
          </a:xfrm>
          <a:prstGeom prst="rect">
            <a:avLst/>
          </a:prstGeom>
          <a:solidFill>
            <a:srgbClr val="1B6E5D"/>
          </a:solidFill>
          <a:ln w="12700">
            <a:solidFill>
              <a:srgbClr val="1B6E5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17296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E9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987552" y="311810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Documentation Compliance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87552" y="330098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of origin, quality declarations, and UAE-compliant VAT invoicing on every order — DHA audit-ready.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3621024"/>
            <a:ext cx="5029200" cy="512064"/>
          </a:xfrm>
          <a:prstGeom prst="roundRect">
            <a:avLst>
              <a:gd name="adj" fmla="val 8929"/>
            </a:avLst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66928" y="3739896"/>
            <a:ext cx="310896" cy="274320"/>
          </a:xfrm>
          <a:prstGeom prst="rect">
            <a:avLst/>
          </a:prstGeom>
          <a:solidFill>
            <a:srgbClr val="1B6E5D"/>
          </a:solidFill>
          <a:ln w="12700">
            <a:solidFill>
              <a:srgbClr val="1B6E5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373989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E9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987552" y="368503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Consolidation Across Categories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87552" y="3867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general trading partner across 8 categories. Estimated 40% reduction in procurement admin overhead.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4187952"/>
            <a:ext cx="5029200" cy="512064"/>
          </a:xfrm>
          <a:prstGeom prst="roundRect">
            <a:avLst>
              <a:gd name="adj" fmla="val 8929"/>
            </a:avLst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66928" y="4306824"/>
            <a:ext cx="310896" cy="274320"/>
          </a:xfrm>
          <a:prstGeom prst="rect">
            <a:avLst/>
          </a:prstGeom>
          <a:solidFill>
            <a:srgbClr val="1B6E5D"/>
          </a:solidFill>
          <a:ln w="12700">
            <a:solidFill>
              <a:srgbClr val="1B6E5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430682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E9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987552" y="425196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Spend Reporting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87552" y="44348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analytics, quarterly business reviews, real-time order tracking — full visibility for finance and procurement.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669280" y="1920240"/>
            <a:ext cx="3017520" cy="2852928"/>
          </a:xfrm>
          <a:prstGeom prst="roundRect">
            <a:avLst>
              <a:gd name="adj" fmla="val 1603"/>
            </a:avLst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815584" y="19933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239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EMIRATES HOSPITAL GROUP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815584" y="2212848"/>
            <a:ext cx="2560320" cy="0"/>
          </a:xfrm>
          <a:prstGeom prst="line">
            <a:avLst/>
          </a:prstGeom>
          <a:noFill/>
          <a:ln w="5080">
            <a:solidFill>
              <a:srgbClr val="1C355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15584" y="22677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022592" y="226771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1995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815584" y="2560320"/>
            <a:ext cx="2560320" cy="0"/>
          </a:xfrm>
          <a:prstGeom prst="line">
            <a:avLst/>
          </a:prstGeom>
          <a:noFill/>
          <a:ln w="3810">
            <a:solidFill>
              <a:srgbClr val="1C355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15584" y="25968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022592" y="259689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Multi-Facility UAE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815584" y="2889504"/>
            <a:ext cx="2560320" cy="0"/>
          </a:xfrm>
          <a:prstGeom prst="line">
            <a:avLst/>
          </a:prstGeom>
          <a:noFill/>
          <a:ln w="3810">
            <a:solidFill>
              <a:srgbClr val="1C355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15584" y="29260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Accreditation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022592" y="29260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JCI &amp; ISO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815584" y="3218688"/>
            <a:ext cx="2560320" cy="0"/>
          </a:xfrm>
          <a:prstGeom prst="line">
            <a:avLst/>
          </a:prstGeom>
          <a:noFill/>
          <a:ln w="3810">
            <a:solidFill>
              <a:srgbClr val="1C355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15584" y="325526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022592" y="325526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Health Authority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815584" y="3547872"/>
            <a:ext cx="2560320" cy="0"/>
          </a:xfrm>
          <a:prstGeom prst="line">
            <a:avLst/>
          </a:prstGeom>
          <a:noFill/>
          <a:ln w="3810">
            <a:solidFill>
              <a:srgbClr val="1C355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15584" y="35844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022592" y="35844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Healthcare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815584" y="3877056"/>
            <a:ext cx="2560320" cy="0"/>
          </a:xfrm>
          <a:prstGeom prst="line">
            <a:avLst/>
          </a:prstGeom>
          <a:noFill/>
          <a:ln w="3810">
            <a:solidFill>
              <a:srgbClr val="1C355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15584" y="39136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Criteria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022592" y="391363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&amp; Compliant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815584" y="4297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Duchin General Trading meets all prerequisites for UAE private healthcare vendor registration. Full documentation submitted on request.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C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7121F"/>
          </a:solidFill>
          <a:ln w="12700">
            <a:solidFill>
              <a:srgbClr val="0712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1C35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347472" y="237744"/>
            <a:ext cx="73152" cy="73152"/>
          </a:xfrm>
          <a:prstGeom prst="rect">
            <a:avLst/>
          </a:prstGeom>
          <a:solidFill>
            <a:srgbClr val="C28A2A"/>
          </a:solidFill>
          <a:ln w="12700">
            <a:solidFill>
              <a:srgbClr val="C28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645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DUCHIN GENERAL TRADING  L.L.C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0" y="1645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6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/  10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0"/>
          </a:xfrm>
          <a:prstGeom prst="line">
            <a:avLst/>
          </a:prstGeom>
          <a:noFill/>
          <a:ln w="6350">
            <a:solidFill>
              <a:srgbClr val="1C35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7121F"/>
          </a:solidFill>
          <a:ln w="12700">
            <a:solidFill>
              <a:srgbClr val="0712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4846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Duchin General Trading L.L.C  ·  Emirates Hospital Group — Supply Partnership Proposal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94944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July 2026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6583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CAPABILITIES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Partner. Every Category Emirates Hospital Needs.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1627632"/>
            <a:ext cx="1938528" cy="1371600"/>
          </a:xfrm>
          <a:prstGeom prst="roundRect">
            <a:avLst>
              <a:gd name="adj" fmla="val 3333"/>
            </a:avLst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" y="1764792"/>
            <a:ext cx="347472" cy="201168"/>
          </a:xfrm>
          <a:prstGeom prst="rect">
            <a:avLst/>
          </a:prstGeom>
          <a:solidFill>
            <a:srgbClr val="0D1A2E"/>
          </a:solidFill>
          <a:ln w="6350">
            <a:solidFill>
              <a:srgbClr val="C28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176479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2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3504" y="20299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Consumables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03504" y="232257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Gloves, syringes, bandages, wound care, drapes, gowns, masks, IV supplies, catheters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505456" y="1627632"/>
            <a:ext cx="1938528" cy="1371600"/>
          </a:xfrm>
          <a:prstGeom prst="roundRect">
            <a:avLst>
              <a:gd name="adj" fmla="val 3333"/>
            </a:avLst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651760" y="1764792"/>
            <a:ext cx="347472" cy="201168"/>
          </a:xfrm>
          <a:prstGeom prst="rect">
            <a:avLst/>
          </a:prstGeom>
          <a:solidFill>
            <a:srgbClr val="0D1A2E"/>
          </a:solidFill>
          <a:ln w="6350">
            <a:solidFill>
              <a:srgbClr val="C28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51760" y="176479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2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51760" y="20299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Supplies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651760" y="232257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reagents, test kits, specimen containers, collection tubes, diagnostic accessories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53712" y="1627632"/>
            <a:ext cx="1938528" cy="1371600"/>
          </a:xfrm>
          <a:prstGeom prst="roundRect">
            <a:avLst>
              <a:gd name="adj" fmla="val 3333"/>
            </a:avLst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0016" y="1764792"/>
            <a:ext cx="347472" cy="201168"/>
          </a:xfrm>
          <a:prstGeom prst="rect">
            <a:avLst/>
          </a:prstGeom>
          <a:solidFill>
            <a:srgbClr val="0D1A2E"/>
          </a:solidFill>
          <a:ln w="6350">
            <a:solidFill>
              <a:srgbClr val="C28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176479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2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PP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00016" y="20299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&amp; Infection Control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00016" y="232257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protective equipment, disinfectants, sanitizers, sterilization pouches, wipes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601968" y="1627632"/>
            <a:ext cx="1938528" cy="1371600"/>
          </a:xfrm>
          <a:prstGeom prst="roundRect">
            <a:avLst>
              <a:gd name="adj" fmla="val 3333"/>
            </a:avLst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48272" y="1764792"/>
            <a:ext cx="347472" cy="201168"/>
          </a:xfrm>
          <a:prstGeom prst="rect">
            <a:avLst/>
          </a:prstGeom>
          <a:solidFill>
            <a:srgbClr val="0D1A2E"/>
          </a:solidFill>
          <a:ln w="6350">
            <a:solidFill>
              <a:srgbClr val="C28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48272" y="176479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2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748272" y="20299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Equipment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748272" y="232257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monitoring accessories, small devices, mobility aids, examination equipment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3108960"/>
            <a:ext cx="1938528" cy="1371600"/>
          </a:xfrm>
          <a:prstGeom prst="roundRect">
            <a:avLst>
              <a:gd name="adj" fmla="val 3333"/>
            </a:avLst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3504" y="3246120"/>
            <a:ext cx="347472" cy="201168"/>
          </a:xfrm>
          <a:prstGeom prst="rect">
            <a:avLst/>
          </a:prstGeom>
          <a:solidFill>
            <a:srgbClr val="0D1A2E"/>
          </a:solidFill>
          <a:ln w="6350">
            <a:solidFill>
              <a:srgbClr val="C28A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" y="324612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2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03504" y="35112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&amp; Technology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03504" y="380390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Computers, tablets, printers, networking gear, medical display hardware, UPS systems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05456" y="3108960"/>
            <a:ext cx="1938528" cy="1371600"/>
          </a:xfrm>
          <a:prstGeom prst="roundRect">
            <a:avLst>
              <a:gd name="adj" fmla="val 3333"/>
            </a:avLst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651760" y="3246120"/>
            <a:ext cx="347472" cy="201168"/>
          </a:xfrm>
          <a:prstGeom prst="rect">
            <a:avLst/>
          </a:prstGeom>
          <a:solidFill>
            <a:srgbClr val="0D1A2E"/>
          </a:solidFill>
          <a:ln w="6350">
            <a:solidFill>
              <a:srgbClr val="C28A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51760" y="324612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2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651760" y="35112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&amp; Maintenance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651760" y="380390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products, janitorial supplies, waste disposal, housekeeping materials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553712" y="3108960"/>
            <a:ext cx="1938528" cy="1371600"/>
          </a:xfrm>
          <a:prstGeom prst="roundRect">
            <a:avLst>
              <a:gd name="adj" fmla="val 3333"/>
            </a:avLst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00016" y="3246120"/>
            <a:ext cx="347472" cy="201168"/>
          </a:xfrm>
          <a:prstGeom prst="rect">
            <a:avLst/>
          </a:prstGeom>
          <a:solidFill>
            <a:srgbClr val="0D1A2E"/>
          </a:solidFill>
          <a:ln w="6350">
            <a:solidFill>
              <a:srgbClr val="C28A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0016" y="324612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2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700016" y="35112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Amenities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700016" y="380390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Bedding, patient gowns, hygiene kits, comfort items, toiletries, slippers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601968" y="3108960"/>
            <a:ext cx="1938528" cy="1371600"/>
          </a:xfrm>
          <a:prstGeom prst="roundRect">
            <a:avLst>
              <a:gd name="adj" fmla="val 3333"/>
            </a:avLst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748272" y="3246120"/>
            <a:ext cx="347472" cy="201168"/>
          </a:xfrm>
          <a:prstGeom prst="rect">
            <a:avLst/>
          </a:prstGeom>
          <a:solidFill>
            <a:srgbClr val="0D1A2E"/>
          </a:solidFill>
          <a:ln w="6350">
            <a:solidFill>
              <a:srgbClr val="C28A2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48272" y="324612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2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OA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748272" y="35112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&amp; Administrative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748272" y="380390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Stationery, furniture, signage, staff uniforms, printing consumables, storage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categories sourced from verified, UAE-compliant suppliers. Certificates of origin, quality declarations, and full traceability on every order.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C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7121F"/>
          </a:solidFill>
          <a:ln w="12700">
            <a:solidFill>
              <a:srgbClr val="0712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1C35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347472" y="237744"/>
            <a:ext cx="73152" cy="73152"/>
          </a:xfrm>
          <a:prstGeom prst="rect">
            <a:avLst/>
          </a:prstGeom>
          <a:solidFill>
            <a:srgbClr val="C28A2A"/>
          </a:solidFill>
          <a:ln w="12700">
            <a:solidFill>
              <a:srgbClr val="C28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645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DUCHIN GENERAL TRADING  L.L.C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0" y="1645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6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/  10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0"/>
          </a:xfrm>
          <a:prstGeom prst="line">
            <a:avLst/>
          </a:prstGeom>
          <a:noFill/>
          <a:ln w="6350">
            <a:solidFill>
              <a:srgbClr val="1C35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7121F"/>
          </a:solidFill>
          <a:ln w="12700">
            <a:solidFill>
              <a:srgbClr val="0712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4846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Duchin General Trading L.L.C  ·  Emirates Hospital Group — Supply Partnership Proposal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94944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July 2026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6583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CHOOSE US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Sets Duchin Apart From Any Other Trading Vendor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1609344"/>
            <a:ext cx="3950208" cy="658368"/>
          </a:xfrm>
          <a:prstGeom prst="roundRect">
            <a:avLst>
              <a:gd name="adj" fmla="val 6944"/>
            </a:avLst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" y="1792224"/>
            <a:ext cx="237744" cy="237744"/>
          </a:xfrm>
          <a:prstGeom prst="rect">
            <a:avLst/>
          </a:prstGeom>
          <a:solidFill>
            <a:srgbClr val="0D1A2E"/>
          </a:solidFill>
          <a:ln w="6350">
            <a:solidFill>
              <a:srgbClr val="C28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17922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50976" y="1700784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 Dubai Licensed &amp; Active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50976" y="1929384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No. 1588874 — actively maintained with DED. Verifiable in real-time via Dubai DET portal.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498848" y="1609344"/>
            <a:ext cx="3950208" cy="658368"/>
          </a:xfrm>
          <a:prstGeom prst="roundRect">
            <a:avLst>
              <a:gd name="adj" fmla="val 6944"/>
            </a:avLst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45152" y="1792224"/>
            <a:ext cx="237744" cy="237744"/>
          </a:xfrm>
          <a:prstGeom prst="rect">
            <a:avLst/>
          </a:prstGeom>
          <a:solidFill>
            <a:srgbClr val="0D1A2E"/>
          </a:solidFill>
          <a:ln w="6350">
            <a:solidFill>
              <a:srgbClr val="C28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17922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92624" y="1700784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5 Million Paid-Up Capital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92624" y="1929384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large forward purchase orders, vendor prepayments, and credit extension to clients.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2359152"/>
            <a:ext cx="3950208" cy="658368"/>
          </a:xfrm>
          <a:prstGeom prst="roundRect">
            <a:avLst>
              <a:gd name="adj" fmla="val 6944"/>
            </a:avLst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" y="2542032"/>
            <a:ext cx="237744" cy="237744"/>
          </a:xfrm>
          <a:prstGeom prst="rect">
            <a:avLst/>
          </a:prstGeom>
          <a:solidFill>
            <a:srgbClr val="0D1A2E"/>
          </a:solidFill>
          <a:ln w="6350">
            <a:solidFill>
              <a:srgbClr val="C28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" y="25420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50976" y="2450592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Chamber Member #665694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50976" y="2679192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DCCI registered and verified — institutional credibility beyond the trade license alone.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498848" y="2359152"/>
            <a:ext cx="3950208" cy="658368"/>
          </a:xfrm>
          <a:prstGeom prst="roundRect">
            <a:avLst>
              <a:gd name="adj" fmla="val 6944"/>
            </a:avLst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45152" y="2542032"/>
            <a:ext cx="237744" cy="237744"/>
          </a:xfrm>
          <a:prstGeom prst="rect">
            <a:avLst/>
          </a:prstGeom>
          <a:solidFill>
            <a:srgbClr val="0D1A2E"/>
          </a:solidFill>
          <a:ln w="6350">
            <a:solidFill>
              <a:srgbClr val="C28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45152" y="25420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92624" y="2450592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Group Structural Backing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92624" y="2679192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owned by Duchin Holding LLC-FZ — international sourcing reach and financial depth.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3108960"/>
            <a:ext cx="3950208" cy="658368"/>
          </a:xfrm>
          <a:prstGeom prst="roundRect">
            <a:avLst>
              <a:gd name="adj" fmla="val 6944"/>
            </a:avLst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3504" y="3291840"/>
            <a:ext cx="237744" cy="237744"/>
          </a:xfrm>
          <a:prstGeom prst="rect">
            <a:avLst/>
          </a:prstGeom>
          <a:solidFill>
            <a:srgbClr val="0D1A2E"/>
          </a:solidFill>
          <a:ln w="6350">
            <a:solidFill>
              <a:srgbClr val="C28A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" y="32918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50976" y="3200400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Emergency Delivery Surcharge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50976" y="342900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charge 20–50% for same-day delivery. Our SLAs carry zero emergency surcharge — ever.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498848" y="3108960"/>
            <a:ext cx="3950208" cy="658368"/>
          </a:xfrm>
          <a:prstGeom prst="roundRect">
            <a:avLst>
              <a:gd name="adj" fmla="val 6944"/>
            </a:avLst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45152" y="3291840"/>
            <a:ext cx="237744" cy="237744"/>
          </a:xfrm>
          <a:prstGeom prst="rect">
            <a:avLst/>
          </a:prstGeom>
          <a:solidFill>
            <a:srgbClr val="0D1A2E"/>
          </a:solidFill>
          <a:ln w="6350">
            <a:solidFill>
              <a:srgbClr val="C28A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45152" y="32918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992624" y="3200400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Multi-Category Single Partnership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92624" y="342900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categories, one agreement, one invoice, one account manager — not 30 vendor relationships.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57200" y="3858768"/>
            <a:ext cx="3950208" cy="658368"/>
          </a:xfrm>
          <a:prstGeom prst="roundRect">
            <a:avLst>
              <a:gd name="adj" fmla="val 6944"/>
            </a:avLst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03504" y="4041648"/>
            <a:ext cx="237744" cy="237744"/>
          </a:xfrm>
          <a:prstGeom prst="rect">
            <a:avLst/>
          </a:prstGeom>
          <a:solidFill>
            <a:srgbClr val="0D1A2E"/>
          </a:solidFill>
          <a:ln w="6350">
            <a:solidFill>
              <a:srgbClr val="C28A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3504" y="40416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50976" y="3950208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Price Lock Guarantee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50976" y="417880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agreed pricing fixed for the full first year — no inflation adjustments, no surprises.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498848" y="3858768"/>
            <a:ext cx="3950208" cy="658368"/>
          </a:xfrm>
          <a:prstGeom prst="roundRect">
            <a:avLst>
              <a:gd name="adj" fmla="val 6944"/>
            </a:avLst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45152" y="4041648"/>
            <a:ext cx="237744" cy="237744"/>
          </a:xfrm>
          <a:prstGeom prst="rect">
            <a:avLst/>
          </a:prstGeom>
          <a:solidFill>
            <a:srgbClr val="0D1A2E"/>
          </a:solidFill>
          <a:ln w="6350">
            <a:solidFill>
              <a:srgbClr val="C28A2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45152" y="40416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992624" y="3950208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Compliance Documentation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992624" y="417880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of origin, quality declarations, VAT invoicing on every order — DHA audit-ready.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C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7121F"/>
          </a:solidFill>
          <a:ln w="12700">
            <a:solidFill>
              <a:srgbClr val="0712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1C35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347472" y="237744"/>
            <a:ext cx="73152" cy="73152"/>
          </a:xfrm>
          <a:prstGeom prst="rect">
            <a:avLst/>
          </a:prstGeom>
          <a:solidFill>
            <a:srgbClr val="C28A2A"/>
          </a:solidFill>
          <a:ln w="12700">
            <a:solidFill>
              <a:srgbClr val="C28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645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DUCHIN GENERAL TRADING  L.L.C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0" y="1645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6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 /  10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0"/>
          </a:xfrm>
          <a:prstGeom prst="line">
            <a:avLst/>
          </a:prstGeom>
          <a:noFill/>
          <a:ln w="6350">
            <a:solidFill>
              <a:srgbClr val="1C35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7121F"/>
          </a:solidFill>
          <a:ln w="12700">
            <a:solidFill>
              <a:srgbClr val="0712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4846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Duchin General Trading L.L.C  ·  Emirates Hospital Group — Supply Partnership Proposal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94944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July 2026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6583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PROPOSAL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Terms Designed to Deliver Measurable Value from Day One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1591056"/>
            <a:ext cx="3968496" cy="1536192"/>
          </a:xfrm>
          <a:prstGeom prst="roundRect">
            <a:avLst>
              <a:gd name="adj" fmla="val 2976"/>
            </a:avLst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" y="1673352"/>
            <a:ext cx="3675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PRICING TIERS</a:t>
            </a:r>
            <a:endParaRPr lang="en-US" sz="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83664"/>
          <a:ext cx="3675888" cy="1042416"/>
        </p:xfrm>
        <a:graphic>
          <a:graphicData uri="http://schemas.openxmlformats.org/drawingml/2006/table">
            <a:tbl>
              <a:tblPr/>
              <a:tblGrid>
                <a:gridCol w="1463040"/>
                <a:gridCol w="822960"/>
                <a:gridCol w="1389888"/>
              </a:tblGrid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76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Volume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476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76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540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8AAA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AED 500K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28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Rate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8AAA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 + Priority SLA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540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8AAA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500K – 2M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28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 Off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8AAA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Manager + QBRs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540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8AAA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2M – 5M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28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 Off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8AAA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Team + Analytics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540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8AAA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AED 5M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28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 Off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8AAA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Partner Programme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540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57200" y="2944368"/>
            <a:ext cx="3968496" cy="164592"/>
          </a:xfrm>
          <a:prstGeom prst="rect">
            <a:avLst/>
          </a:prstGeom>
          <a:solidFill>
            <a:srgbClr val="0D1A2E"/>
          </a:solidFill>
          <a:ln w="6350">
            <a:solidFill>
              <a:srgbClr val="C28A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" y="2953512"/>
            <a:ext cx="3675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payment incentive: additional 2% discount for settlement within 30 days of invoice date.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4517136" y="1591056"/>
            <a:ext cx="3968496" cy="1536192"/>
          </a:xfrm>
          <a:prstGeom prst="roundRect">
            <a:avLst>
              <a:gd name="adj" fmla="val 2976"/>
            </a:avLst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663440" y="1673352"/>
            <a:ext cx="3675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DELIVERY TERMS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663440" y="188366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Payment Terms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876288" y="188366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60 Days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663440" y="2048256"/>
            <a:ext cx="3675888" cy="0"/>
          </a:xfrm>
          <a:prstGeom prst="line">
            <a:avLst/>
          </a:prstGeom>
          <a:noFill/>
          <a:ln w="3810">
            <a:solidFill>
              <a:srgbClr val="1C355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63440" y="20574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Payment Discount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76288" y="205740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+ 2% for Net 30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663440" y="2221992"/>
            <a:ext cx="3675888" cy="0"/>
          </a:xfrm>
          <a:prstGeom prst="line">
            <a:avLst/>
          </a:prstGeom>
          <a:noFill/>
          <a:ln w="3810">
            <a:solidFill>
              <a:srgbClr val="1C355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63440" y="223113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Order Value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876288" y="22311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39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663440" y="2395728"/>
            <a:ext cx="3675888" cy="0"/>
          </a:xfrm>
          <a:prstGeom prst="line">
            <a:avLst/>
          </a:prstGeom>
          <a:noFill/>
          <a:ln w="3810">
            <a:solidFill>
              <a:srgbClr val="1C355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63440" y="24048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Delivery Threshold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876288" y="240487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AED 5,000+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663440" y="2569464"/>
            <a:ext cx="3675888" cy="0"/>
          </a:xfrm>
          <a:prstGeom prst="line">
            <a:avLst/>
          </a:prstGeom>
          <a:noFill/>
          <a:ln w="3810">
            <a:solidFill>
              <a:srgbClr val="1C355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663440" y="25786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Surcharge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876288" y="257860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39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 — Included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4663440" y="2743200"/>
            <a:ext cx="3675888" cy="0"/>
          </a:xfrm>
          <a:prstGeom prst="line">
            <a:avLst/>
          </a:prstGeom>
          <a:noFill/>
          <a:ln w="3810">
            <a:solidFill>
              <a:srgbClr val="1C355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663440" y="275234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Invoicing Method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876288" y="275234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 Consolidated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4663440" y="2916936"/>
            <a:ext cx="3675888" cy="0"/>
          </a:xfrm>
          <a:prstGeom prst="line">
            <a:avLst/>
          </a:prstGeom>
          <a:noFill/>
          <a:ln w="3810">
            <a:solidFill>
              <a:srgbClr val="1C355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663440" y="29260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Pricing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6876288" y="292608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 — No Escalation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457200" y="3218688"/>
            <a:ext cx="3968496" cy="1536192"/>
          </a:xfrm>
          <a:prstGeom prst="roundRect">
            <a:avLst>
              <a:gd name="adj" fmla="val 2976"/>
            </a:avLst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603504" y="3300984"/>
            <a:ext cx="3675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LEVEL AGREEMENTS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603504" y="34930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Orders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2798064" y="349300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 Hours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603504" y="3657600"/>
            <a:ext cx="3675888" cy="0"/>
          </a:xfrm>
          <a:prstGeom prst="line">
            <a:avLst/>
          </a:prstGeom>
          <a:noFill/>
          <a:ln w="3810">
            <a:solidFill>
              <a:srgbClr val="1C355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03504" y="366674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Orders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2798064" y="366674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Hours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603504" y="3831336"/>
            <a:ext cx="3675888" cy="0"/>
          </a:xfrm>
          <a:prstGeom prst="line">
            <a:avLst/>
          </a:prstGeom>
          <a:noFill/>
          <a:ln w="3810">
            <a:solidFill>
              <a:srgbClr val="1C3554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03504" y="38404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Orders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2798064" y="384048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Day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603504" y="4005072"/>
            <a:ext cx="3675888" cy="0"/>
          </a:xfrm>
          <a:prstGeom prst="line">
            <a:avLst/>
          </a:prstGeom>
          <a:noFill/>
          <a:ln w="3810">
            <a:solidFill>
              <a:srgbClr val="1C355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03504" y="401421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Confirmation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2798064" y="4014216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Within 2 Hours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603504" y="4178808"/>
            <a:ext cx="3675888" cy="0"/>
          </a:xfrm>
          <a:prstGeom prst="line">
            <a:avLst/>
          </a:prstGeom>
          <a:noFill/>
          <a:ln w="3810">
            <a:solidFill>
              <a:srgbClr val="1C3554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03504" y="41879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Out-of-Stock Replenishment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2798064" y="4187952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3–5 Business Days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603504" y="4352544"/>
            <a:ext cx="3675888" cy="0"/>
          </a:xfrm>
          <a:prstGeom prst="line">
            <a:avLst/>
          </a:prstGeom>
          <a:noFill/>
          <a:ln w="3810">
            <a:solidFill>
              <a:srgbClr val="1C3554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03504" y="436168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Dispute Resolution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2798064" y="436168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Business Days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603504" y="4526280"/>
            <a:ext cx="3675888" cy="0"/>
          </a:xfrm>
          <a:prstGeom prst="line">
            <a:avLst/>
          </a:prstGeom>
          <a:noFill/>
          <a:ln w="3810">
            <a:solidFill>
              <a:srgbClr val="1C3554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03504" y="453542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 Credit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2798064" y="453542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5% Monthly Invoice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4517136" y="3218688"/>
            <a:ext cx="3968496" cy="1536192"/>
          </a:xfrm>
          <a:prstGeom prst="roundRect">
            <a:avLst>
              <a:gd name="adj" fmla="val 2976"/>
            </a:avLst>
          </a:prstGeom>
          <a:solidFill>
            <a:srgbClr val="102540"/>
          </a:solidFill>
          <a:ln w="10160">
            <a:solidFill>
              <a:srgbClr val="23907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63" name="Text 60"/>
          <p:cNvSpPr/>
          <p:nvPr/>
        </p:nvSpPr>
        <p:spPr>
          <a:xfrm>
            <a:off x="4663440" y="3300984"/>
            <a:ext cx="3675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239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INTRODUCTORY OFFER — FIRST 90 DAYS</a:t>
            </a:r>
            <a:endParaRPr lang="en-US" sz="700" dirty="0"/>
          </a:p>
        </p:txBody>
      </p:sp>
      <p:sp>
        <p:nvSpPr>
          <p:cNvPr id="64" name="Text 61"/>
          <p:cNvSpPr/>
          <p:nvPr/>
        </p:nvSpPr>
        <p:spPr>
          <a:xfrm>
            <a:off x="4663440" y="349300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Model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6583680" y="3493008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39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Price — Zero Margin</a:t>
            </a:r>
            <a:endParaRPr lang="en-US" sz="800" dirty="0"/>
          </a:p>
        </p:txBody>
      </p:sp>
      <p:sp>
        <p:nvSpPr>
          <p:cNvPr id="66" name="Shape 63"/>
          <p:cNvSpPr/>
          <p:nvPr/>
        </p:nvSpPr>
        <p:spPr>
          <a:xfrm>
            <a:off x="4663440" y="3657600"/>
            <a:ext cx="3675888" cy="0"/>
          </a:xfrm>
          <a:prstGeom prst="line">
            <a:avLst/>
          </a:prstGeom>
          <a:noFill/>
          <a:ln w="3810">
            <a:solidFill>
              <a:srgbClr val="1C3554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663440" y="366674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Fee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6583680" y="3666744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39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Waived</a:t>
            </a:r>
            <a:endParaRPr lang="en-US" sz="800" dirty="0"/>
          </a:p>
        </p:txBody>
      </p:sp>
      <p:sp>
        <p:nvSpPr>
          <p:cNvPr id="69" name="Shape 66"/>
          <p:cNvSpPr/>
          <p:nvPr/>
        </p:nvSpPr>
        <p:spPr>
          <a:xfrm>
            <a:off x="4663440" y="3831336"/>
            <a:ext cx="3675888" cy="0"/>
          </a:xfrm>
          <a:prstGeom prst="line">
            <a:avLst/>
          </a:prstGeom>
          <a:noFill/>
          <a:ln w="3810">
            <a:solidFill>
              <a:srgbClr val="1C3554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4663440" y="384048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Setup</a:t>
            </a:r>
            <a:endParaRPr lang="en-US" sz="800" dirty="0"/>
          </a:p>
        </p:txBody>
      </p:sp>
      <p:sp>
        <p:nvSpPr>
          <p:cNvPr id="71" name="Text 68"/>
          <p:cNvSpPr/>
          <p:nvPr/>
        </p:nvSpPr>
        <p:spPr>
          <a:xfrm>
            <a:off x="6583680" y="3840480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39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Complimentary</a:t>
            </a:r>
            <a:endParaRPr lang="en-US" sz="800" dirty="0"/>
          </a:p>
        </p:txBody>
      </p:sp>
      <p:sp>
        <p:nvSpPr>
          <p:cNvPr id="72" name="Shape 69"/>
          <p:cNvSpPr/>
          <p:nvPr/>
        </p:nvSpPr>
        <p:spPr>
          <a:xfrm>
            <a:off x="4663440" y="4005072"/>
            <a:ext cx="3675888" cy="0"/>
          </a:xfrm>
          <a:prstGeom prst="line">
            <a:avLst/>
          </a:prstGeom>
          <a:noFill/>
          <a:ln w="3810">
            <a:solidFill>
              <a:srgbClr val="1C3554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4663440" y="401421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Line</a:t>
            </a:r>
            <a:endParaRPr lang="en-US" sz="800" dirty="0"/>
          </a:p>
        </p:txBody>
      </p:sp>
      <p:sp>
        <p:nvSpPr>
          <p:cNvPr id="74" name="Text 71"/>
          <p:cNvSpPr/>
          <p:nvPr/>
        </p:nvSpPr>
        <p:spPr>
          <a:xfrm>
            <a:off x="6583680" y="4014216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39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24/7 Direct Access</a:t>
            </a:r>
            <a:endParaRPr lang="en-US" sz="800" dirty="0"/>
          </a:p>
        </p:txBody>
      </p:sp>
      <p:sp>
        <p:nvSpPr>
          <p:cNvPr id="75" name="Shape 72"/>
          <p:cNvSpPr/>
          <p:nvPr/>
        </p:nvSpPr>
        <p:spPr>
          <a:xfrm>
            <a:off x="4663440" y="4178808"/>
            <a:ext cx="3675888" cy="0"/>
          </a:xfrm>
          <a:prstGeom prst="line">
            <a:avLst/>
          </a:prstGeom>
          <a:noFill/>
          <a:ln w="3810">
            <a:solidFill>
              <a:srgbClr val="1C3554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4663440" y="418795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Reviews</a:t>
            </a:r>
            <a:endParaRPr lang="en-US" sz="800" dirty="0"/>
          </a:p>
        </p:txBody>
      </p:sp>
      <p:sp>
        <p:nvSpPr>
          <p:cNvPr id="77" name="Text 74"/>
          <p:cNvSpPr/>
          <p:nvPr/>
        </p:nvSpPr>
        <p:spPr>
          <a:xfrm>
            <a:off x="6583680" y="4187952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39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 1 &amp; Month 3</a:t>
            </a:r>
            <a:endParaRPr lang="en-US" sz="800" dirty="0"/>
          </a:p>
        </p:txBody>
      </p:sp>
      <p:sp>
        <p:nvSpPr>
          <p:cNvPr id="78" name="Shape 75"/>
          <p:cNvSpPr/>
          <p:nvPr/>
        </p:nvSpPr>
        <p:spPr>
          <a:xfrm>
            <a:off x="4517136" y="4425696"/>
            <a:ext cx="3968496" cy="329184"/>
          </a:xfrm>
          <a:prstGeom prst="rect">
            <a:avLst/>
          </a:prstGeom>
          <a:solidFill>
            <a:srgbClr val="0D2520"/>
          </a:solidFill>
          <a:ln w="6350">
            <a:solidFill>
              <a:srgbClr val="1B6E5D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4645152" y="4462272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39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 at cost price — test our delivery quality with zero financial risk before full terms apply.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C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7121F"/>
          </a:solidFill>
          <a:ln w="12700">
            <a:solidFill>
              <a:srgbClr val="0712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1C35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347472" y="237744"/>
            <a:ext cx="73152" cy="73152"/>
          </a:xfrm>
          <a:prstGeom prst="rect">
            <a:avLst/>
          </a:prstGeom>
          <a:solidFill>
            <a:srgbClr val="C28A2A"/>
          </a:solidFill>
          <a:ln w="12700">
            <a:solidFill>
              <a:srgbClr val="C28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645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DUCHIN GENERAL TRADING  L.L.C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0" y="1645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6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 /  10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0"/>
          </a:xfrm>
          <a:prstGeom prst="line">
            <a:avLst/>
          </a:prstGeom>
          <a:noFill/>
          <a:ln w="6350">
            <a:solidFill>
              <a:srgbClr val="1C35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7121F"/>
          </a:solidFill>
          <a:ln w="12700">
            <a:solidFill>
              <a:srgbClr val="0712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4846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Duchin General Trading L.L.C  ·  Emirates Hospital Group — Supply Partnership Proposal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94944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July 2026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6583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Partnership Framework &amp; 60-Day Onboarding Plan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1508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onboarding minimizing disruption to existing procurement while activating value from the first order.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216152" y="2148840"/>
            <a:ext cx="6309360" cy="0"/>
          </a:xfrm>
          <a:prstGeom prst="line">
            <a:avLst/>
          </a:prstGeom>
          <a:noFill/>
          <a:ln w="10160">
            <a:solidFill>
              <a:srgbClr val="1C355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1938528"/>
            <a:ext cx="420624" cy="420624"/>
          </a:xfrm>
          <a:prstGeom prst="ellipse">
            <a:avLst/>
          </a:prstGeom>
          <a:solidFill>
            <a:srgbClr val="102540"/>
          </a:solidFill>
          <a:ln w="15240">
            <a:solidFill>
              <a:srgbClr val="C28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2468880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48640" y="267004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Registration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2962656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Emirates Hospital vendor registration. Submit full compliance pack: trade license, DCCI certificate, commercial register, MOA, financial statements.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4160520" y="1938528"/>
            <a:ext cx="420624" cy="420624"/>
          </a:xfrm>
          <a:prstGeom prst="ellipse">
            <a:avLst/>
          </a:prstGeom>
          <a:solidFill>
            <a:srgbClr val="102540"/>
          </a:solidFill>
          <a:ln w="15240">
            <a:solidFill>
              <a:srgbClr val="C28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6052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03320" y="2468880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703320" y="267004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Mapping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703320" y="2962656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session with procurement team. Map categories, validate pricing vs. benchmark, build approved product list and delivery schedule.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7315200" y="1938528"/>
            <a:ext cx="420624" cy="420624"/>
          </a:xfrm>
          <a:prstGeom prst="ellipse">
            <a:avLst/>
          </a:prstGeom>
          <a:solidFill>
            <a:srgbClr val="0D2520"/>
          </a:solidFill>
          <a:ln w="15240">
            <a:solidFill>
              <a:srgbClr val="2390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9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2468880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239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 ONWARD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858000" y="267004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Operations + Review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0" y="2962656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purchase orders at cost-price. Portal activated. KPI dashboard live. 30-day performance review. Full commercial terms from month 4.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457200" y="3858768"/>
            <a:ext cx="1938528" cy="768096"/>
          </a:xfrm>
          <a:prstGeom prst="roundRect">
            <a:avLst>
              <a:gd name="adj" fmla="val 5952"/>
            </a:avLst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85216" y="393192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Consolidated Invoice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85216" y="422452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invoice per month across all categories — reducing AP processing overhead significantly.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505456" y="3858768"/>
            <a:ext cx="1938528" cy="768096"/>
          </a:xfrm>
          <a:prstGeom prst="roundRect">
            <a:avLst>
              <a:gd name="adj" fmla="val 5952"/>
            </a:avLst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633472" y="393192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Business Reviews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633472" y="422452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analytics, savings dashboard, and planning for next quarter's requirements.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553712" y="3858768"/>
            <a:ext cx="1938528" cy="768096"/>
          </a:xfrm>
          <a:prstGeom prst="roundRect">
            <a:avLst>
              <a:gd name="adj" fmla="val 5952"/>
            </a:avLst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681728" y="393192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Ordering Portal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681728" y="422452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history, live delivery tracking, compliance document repository, spend analytics.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601968" y="3858768"/>
            <a:ext cx="1938528" cy="768096"/>
          </a:xfrm>
          <a:prstGeom prst="roundRect">
            <a:avLst>
              <a:gd name="adj" fmla="val 5952"/>
            </a:avLst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729984" y="393192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Account Manager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729984" y="422452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contact via phone, email, and WhatsApp — accountable for every order.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7121F"/>
          </a:solidFill>
          <a:ln w="12700">
            <a:solidFill>
              <a:srgbClr val="0712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1C35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347472" y="237744"/>
            <a:ext cx="73152" cy="73152"/>
          </a:xfrm>
          <a:prstGeom prst="rect">
            <a:avLst/>
          </a:prstGeom>
          <a:solidFill>
            <a:srgbClr val="C28A2A"/>
          </a:solidFill>
          <a:ln w="12700">
            <a:solidFill>
              <a:srgbClr val="C28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645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DUCHIN GENERAL TRADING  L.L.C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0" y="1645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6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/  10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0"/>
          </a:xfrm>
          <a:prstGeom prst="line">
            <a:avLst/>
          </a:prstGeom>
          <a:noFill/>
          <a:ln w="6350">
            <a:solidFill>
              <a:srgbClr val="1C35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7121F"/>
          </a:solidFill>
          <a:ln w="12700">
            <a:solidFill>
              <a:srgbClr val="0712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4846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Duchin General Trading L.L.C  ·  Emirates Hospital Group — Supply Partnership Proposal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94944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July 2026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6583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 ACTION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Steps to Begin This Partnership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1508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Emirates Hospital Group's supply chain deserves a partner that matches its standard of excellence. We are ready to begin immediately.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1920240"/>
            <a:ext cx="2615184" cy="2029968"/>
          </a:xfrm>
          <a:prstGeom prst="roundRect">
            <a:avLst>
              <a:gd name="adj" fmla="val 2252"/>
            </a:avLst>
          </a:prstGeom>
          <a:solidFill>
            <a:srgbClr val="102540"/>
          </a:solidFill>
          <a:ln w="10160">
            <a:solidFill>
              <a:srgbClr val="C28A2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" y="1993392"/>
            <a:ext cx="310896" cy="310896"/>
          </a:xfrm>
          <a:prstGeom prst="ellipse">
            <a:avLst/>
          </a:prstGeom>
          <a:solidFill>
            <a:srgbClr val="0D1A2E"/>
          </a:solidFill>
          <a:ln w="10160">
            <a:solidFill>
              <a:srgbClr val="C28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1993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3504" y="235000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Meeting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3504" y="2670048"/>
            <a:ext cx="23225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a presentation with your procurement and supply chain leadership. We bring samples, documentation, and category pricing.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328416"/>
            <a:ext cx="2615184" cy="621792"/>
          </a:xfrm>
          <a:prstGeom prst="rect">
            <a:avLst/>
          </a:prstGeom>
          <a:solidFill>
            <a:srgbClr val="0D1A2E"/>
          </a:solidFill>
          <a:ln w="6350">
            <a:solidFill>
              <a:srgbClr val="1C35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" y="3364992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Rana Farhan Ahmed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85216" y="3566160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2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+971 50 497 5365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85216" y="3767328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2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Farhan@hengchenme.com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246120" y="1920240"/>
            <a:ext cx="2615184" cy="2029968"/>
          </a:xfrm>
          <a:prstGeom prst="roundRect">
            <a:avLst>
              <a:gd name="adj" fmla="val 2252"/>
            </a:avLst>
          </a:prstGeom>
          <a:solidFill>
            <a:srgbClr val="102540"/>
          </a:solidFill>
          <a:ln w="10160">
            <a:solidFill>
              <a:srgbClr val="C28A2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92424" y="1993392"/>
            <a:ext cx="310896" cy="310896"/>
          </a:xfrm>
          <a:prstGeom prst="ellipse">
            <a:avLst/>
          </a:prstGeom>
          <a:solidFill>
            <a:srgbClr val="0D1A2E"/>
          </a:solidFill>
          <a:ln w="10160">
            <a:solidFill>
              <a:srgbClr val="C28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92424" y="1993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92424" y="235000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Registration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92424" y="2670048"/>
            <a:ext cx="23225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complete all Emirates Hospital vendor registration documentation and submit the full compliance pack within 48 hours of your confirmation.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46120" y="3328416"/>
            <a:ext cx="2615184" cy="621792"/>
          </a:xfrm>
          <a:prstGeom prst="rect">
            <a:avLst/>
          </a:prstGeom>
          <a:solidFill>
            <a:srgbClr val="0D1A2E"/>
          </a:solidFill>
          <a:ln w="6350">
            <a:solidFill>
              <a:srgbClr val="1C35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74136" y="3364992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2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Ready: Trade License · DCCI Certificate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374136" y="3566160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2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Commercial Register · MOA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374136" y="3767328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2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 Statements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035040" y="1920240"/>
            <a:ext cx="2615184" cy="2029968"/>
          </a:xfrm>
          <a:prstGeom prst="roundRect">
            <a:avLst>
              <a:gd name="adj" fmla="val 2252"/>
            </a:avLst>
          </a:prstGeom>
          <a:solidFill>
            <a:srgbClr val="102540"/>
          </a:solidFill>
          <a:ln w="10160">
            <a:solidFill>
              <a:srgbClr val="23907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81344" y="1993392"/>
            <a:ext cx="310896" cy="310896"/>
          </a:xfrm>
          <a:prstGeom prst="ellipse">
            <a:avLst/>
          </a:prstGeom>
          <a:solidFill>
            <a:srgbClr val="0D2520"/>
          </a:solidFill>
          <a:ln w="10160">
            <a:solidFill>
              <a:srgbClr val="2390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81344" y="1993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9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81344" y="235000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the Framework Agreement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81344" y="2670048"/>
            <a:ext cx="23225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 1-year framework supply agreement. First 90 days at cost price — zero risk to test delivery quality before full terms apply.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035040" y="3328416"/>
            <a:ext cx="2615184" cy="621792"/>
          </a:xfrm>
          <a:prstGeom prst="rect">
            <a:avLst/>
          </a:prstGeom>
          <a:solidFill>
            <a:srgbClr val="0D2520"/>
          </a:solidFill>
          <a:ln w="6350">
            <a:solidFill>
              <a:srgbClr val="1B6E5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63056" y="3364992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39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commencement: August 2026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163056" y="3566160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39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1-year renewable term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163056" y="3767328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39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90-day cost-price trial included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57200" y="4059936"/>
            <a:ext cx="8229600" cy="658368"/>
          </a:xfrm>
          <a:prstGeom prst="rect">
            <a:avLst/>
          </a:prstGeom>
          <a:solidFill>
            <a:srgbClr val="102540"/>
          </a:solidFill>
          <a:ln w="6350">
            <a:solidFill>
              <a:srgbClr val="1C355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" y="411480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603504" y="42793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DUCHIN GENERAL TRADING L.L.C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03504" y="44805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107-038, Al Habibia Fourth, Dubai, UAE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566160" y="411480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200" kern="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3474720" y="427939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EMIRATES HOSPITAL GROUP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474720" y="44805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Supply Chain Division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858000" y="411480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47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VALIDITY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6858000" y="427939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2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July 2026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858000" y="44805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30 days from issue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Duchin General Trading — Emirates Hospital Supply Partnership</dc:title>
  <dc:subject>PptxGenJS Presentation</dc:subject>
  <dc:creator>Duchin General Trading L.L.C</dc:creator>
  <cp:lastModifiedBy>Duchin General Trading L.L.C</cp:lastModifiedBy>
  <cp:revision>1</cp:revision>
  <dcterms:created xsi:type="dcterms:W3CDTF">2026-07-06T13:53:52Z</dcterms:created>
  <dcterms:modified xsi:type="dcterms:W3CDTF">2026-07-06T13:53:52Z</dcterms:modified>
</cp:coreProperties>
</file>